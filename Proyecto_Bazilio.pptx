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4572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3A427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♩ ♪ ♫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640080" y="731520"/>
            <a:ext cx="768096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73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 · PROYECTO INTEGRADOR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lenguaje Bazilio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doble intérprete: el programa se ejecuta y la música suena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85800" y="338328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76732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611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vas a construir?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427024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4114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lenguaje: instrucciones, listas y notas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85800" y="477316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4617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y recursividad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85800" y="527608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5120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y herramientas externas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85800" y="5779008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56235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por etapas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FB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Intérprete de referencia probado con LilyPond, TiMidity++ y ffmpeg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 si un programa pudiera</a:t>
            </a:r>
            <a:endParaRPr lang="en-US" sz="4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componer música?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937760" y="3840480"/>
            <a:ext cx="2286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4114800"/>
            <a:ext cx="9784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partitura es una lista de instrucciones muy precisas. ¿Qué tendría que entender una computadora para convertir un texto en sonido?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756916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756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doble intérprete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dos sentidos a la vez: el informático y el musical.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EEF1F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Intérprete informático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programa: variables, ciclos, procedimientos, listas y errores.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72200" y="24688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EEF1F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Intérprete musical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246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una pieza: convierte las notas tocadas en partitura y en sonido.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del intérprete son cuatro archivos: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5778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577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383280" y="55778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83280" y="5577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MIDI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217920" y="55778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5577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WAV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052560" y="55778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52560" y="5577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MP3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907792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texto al sonido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primeras etapas ya las conoces; ahora se suman la música y las herramientas externas.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377440" cy="1417320"/>
          </a:xfrm>
          <a:prstGeom prst="roundRect">
            <a:avLst>
              <a:gd name="adj" fmla="val 7742"/>
            </a:avLst>
          </a:prstGeom>
          <a:solidFill>
            <a:srgbClr val="3A427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.bzl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fuente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880360"/>
            <a:ext cx="521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447288" y="2514600"/>
            <a:ext cx="2377440" cy="1417320"/>
          </a:xfrm>
          <a:prstGeom prst="roundRect">
            <a:avLst>
              <a:gd name="adj" fmla="val 7742"/>
            </a:avLst>
          </a:prstGeom>
          <a:solidFill>
            <a:srgbClr val="3A427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47288" y="26243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824728" y="2880360"/>
            <a:ext cx="521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345936" y="2514600"/>
            <a:ext cx="2377440" cy="1417320"/>
          </a:xfrm>
          <a:prstGeom prst="roundRect">
            <a:avLst>
              <a:gd name="adj" fmla="val 7742"/>
            </a:avLst>
          </a:prstGeom>
          <a:solidFill>
            <a:srgbClr val="3A427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45936" y="26243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ANTLR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723376" y="2880360"/>
            <a:ext cx="521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9244584" y="2514600"/>
            <a:ext cx="2377440" cy="1417320"/>
          </a:xfrm>
          <a:prstGeom prst="roundRect">
            <a:avLst>
              <a:gd name="adj" fmla="val 7742"/>
            </a:avLst>
          </a:prstGeom>
          <a:solidFill>
            <a:srgbClr val="3A427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44584" y="26243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9244584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2377440" cy="1417320"/>
          </a:xfrm>
          <a:prstGeom prst="roundRect">
            <a:avLst>
              <a:gd name="adj" fmla="val 7742"/>
            </a:avLst>
          </a:prstGeom>
          <a:solidFill>
            <a:srgbClr val="0E7C6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6360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2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03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y recoge notas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4892040"/>
            <a:ext cx="521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3447288" y="4526280"/>
            <a:ext cx="2377440" cy="1417320"/>
          </a:xfrm>
          <a:prstGeom prst="roundRect">
            <a:avLst>
              <a:gd name="adj" fmla="val 7742"/>
            </a:avLst>
          </a:prstGeom>
          <a:solidFill>
            <a:srgbClr val="0E7C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47288" y="46360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.ly</a:t>
            </a:r>
            <a:endParaRPr lang="en-US" sz="2300" dirty="0"/>
          </a:p>
        </p:txBody>
      </p:sp>
      <p:sp>
        <p:nvSpPr>
          <p:cNvPr id="27" name="Text 25"/>
          <p:cNvSpPr txBox="1"/>
          <p:nvPr/>
        </p:nvSpPr>
        <p:spPr>
          <a:xfrm>
            <a:off x="3447288" y="5303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LilyPond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824728" y="4892040"/>
            <a:ext cx="521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6345936" y="4526280"/>
            <a:ext cx="2377440" cy="1417320"/>
          </a:xfrm>
          <a:prstGeom prst="roundRect">
            <a:avLst>
              <a:gd name="adj" fmla="val 7742"/>
            </a:avLst>
          </a:prstGeom>
          <a:solidFill>
            <a:srgbClr val="0E7C6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45936" y="46360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MIDI</a:t>
            </a:r>
            <a:endParaRPr lang="en-US" sz="2300" dirty="0"/>
          </a:p>
        </p:txBody>
      </p:sp>
      <p:sp>
        <p:nvSpPr>
          <p:cNvPr id="31" name="Text 29"/>
          <p:cNvSpPr txBox="1"/>
          <p:nvPr/>
        </p:nvSpPr>
        <p:spPr>
          <a:xfrm>
            <a:off x="6345936" y="5303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LilyPond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723376" y="4892040"/>
            <a:ext cx="521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33" name="Shape 31"/>
          <p:cNvSpPr/>
          <p:nvPr/>
        </p:nvSpPr>
        <p:spPr>
          <a:xfrm>
            <a:off x="9244584" y="4526280"/>
            <a:ext cx="2377440" cy="1417320"/>
          </a:xfrm>
          <a:prstGeom prst="roundRect">
            <a:avLst>
              <a:gd name="adj" fmla="val 7742"/>
            </a:avLst>
          </a:prstGeom>
          <a:solidFill>
            <a:srgbClr val="0E7C6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44584" y="46360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→ MP3</a:t>
            </a:r>
            <a:endParaRPr lang="en-US" sz="2300" dirty="0"/>
          </a:p>
        </p:txBody>
      </p:sp>
      <p:sp>
        <p:nvSpPr>
          <p:cNvPr id="35" name="Text 33"/>
          <p:cNvSpPr txBox="1"/>
          <p:nvPr/>
        </p:nvSpPr>
        <p:spPr>
          <a:xfrm>
            <a:off x="9244584" y="5303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TiMidity++ y ffmpeg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9875520" y="39136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32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36042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3360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PROGRAMA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 Bazilio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un texto y toca tres notas: Si, La y Do.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852160" cy="2011680"/>
          </a:xfrm>
          <a:prstGeom prst="roundRect">
            <a:avLst>
              <a:gd name="adj" fmla="val 3182"/>
            </a:avLst>
          </a:prstGeom>
          <a:solidFill>
            <a:srgbClr val="1214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42032"/>
            <a:ext cx="53035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|: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&lt;w&gt; "Hello Bazilio"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(:) {B C A}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:|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675120" y="2377440"/>
            <a:ext cx="49377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C9D1EA"/>
            </a:solidFill>
            <a:prstDash val="solid"/>
          </a:ln>
        </p:spPr>
      </p:sp>
      <p:pic>
        <p:nvPicPr>
          <p:cNvPr id="9" name="Image 0" descr="/home/claude/pptx_bazilio/img/hello_hd_sta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697480"/>
            <a:ext cx="4297680" cy="20398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675120" y="5166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Partitura generada por el intérprete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572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783080" y="4572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procedimiento donde empieza todo.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120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&lt;w&gt;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783080" y="5120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en pantalla.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669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(:)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783080" y="5669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una nota o una lista de notas a la partitura.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756916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756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de escritura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Detalles pequeños que el lexer y el parser deben respetar.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651760" cy="777240"/>
          </a:xfrm>
          <a:prstGeom prst="rect">
            <a:avLst/>
          </a:prstGeom>
          <a:solidFill>
            <a:srgbClr val="3A4270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42316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2423160"/>
            <a:ext cx="5394960" cy="777240"/>
          </a:xfrm>
          <a:prstGeom prst="rect">
            <a:avLst/>
          </a:prstGeom>
          <a:solidFill>
            <a:srgbClr val="1B2559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10128" y="2423160"/>
            <a:ext cx="5175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Empiezan con mayúscula; el orden no importa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595360" y="2423160"/>
            <a:ext cx="3017520" cy="777240"/>
          </a:xfrm>
          <a:prstGeom prst="rect">
            <a:avLst/>
          </a:prstGeom>
          <a:solidFill>
            <a:srgbClr val="1B2559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05088" y="242316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Main, Euclides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2651760" cy="777240"/>
          </a:xfrm>
          <a:prstGeom prst="rect">
            <a:avLst/>
          </a:prstGeom>
          <a:solidFill>
            <a:srgbClr val="3A4270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20040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00400" y="3200400"/>
            <a:ext cx="5394960" cy="777240"/>
          </a:xfrm>
          <a:prstGeom prst="rect">
            <a:avLst/>
          </a:prstGeom>
          <a:solidFill>
            <a:srgbClr val="24325C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10128" y="3200400"/>
            <a:ext cx="5175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Empiezan con minúscula; no se declaran y valen 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595360" y="3200400"/>
            <a:ext cx="3017520" cy="777240"/>
          </a:xfrm>
          <a:prstGeom prst="rect">
            <a:avLst/>
          </a:prstGeom>
          <a:solidFill>
            <a:srgbClr val="24325C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05088" y="320040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nota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2651760" cy="777240"/>
          </a:xfrm>
          <a:prstGeom prst="rect">
            <a:avLst/>
          </a:prstGeom>
          <a:solidFill>
            <a:srgbClr val="3A4270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97764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0" y="3977640"/>
            <a:ext cx="5394960" cy="777240"/>
          </a:xfrm>
          <a:prstGeom prst="rect">
            <a:avLst/>
          </a:prstGeom>
          <a:solidFill>
            <a:srgbClr val="1B2559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10128" y="3977640"/>
            <a:ext cx="5175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entre |: y :|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95360" y="3977640"/>
            <a:ext cx="3017520" cy="777240"/>
          </a:xfrm>
          <a:prstGeom prst="rect">
            <a:avLst/>
          </a:prstGeom>
          <a:solidFill>
            <a:srgbClr val="1B2559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05088" y="39776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= y |: ... :|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2651760" cy="777240"/>
          </a:xfrm>
          <a:prstGeom prst="rect">
            <a:avLst/>
          </a:prstGeom>
          <a:solidFill>
            <a:srgbClr val="3A4270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475488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200400" y="4754880"/>
            <a:ext cx="5394960" cy="777240"/>
          </a:xfrm>
          <a:prstGeom prst="rect">
            <a:avLst/>
          </a:prstGeom>
          <a:solidFill>
            <a:srgbClr val="24325C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10128" y="4754880"/>
            <a:ext cx="5175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### y ###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595360" y="4754880"/>
            <a:ext cx="3017520" cy="777240"/>
          </a:xfrm>
          <a:prstGeom prst="rect">
            <a:avLst/>
          </a:prstGeom>
          <a:solidFill>
            <a:srgbClr val="24325C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05088" y="475488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hola ###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2651760" cy="777240"/>
          </a:xfrm>
          <a:prstGeom prst="rect">
            <a:avLst/>
          </a:prstGeom>
          <a:solidFill>
            <a:srgbClr val="3A4270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553212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200400" y="5532120"/>
            <a:ext cx="5394960" cy="777240"/>
          </a:xfrm>
          <a:prstGeom prst="rect">
            <a:avLst/>
          </a:prstGeom>
          <a:solidFill>
            <a:srgbClr val="1B2559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10128" y="5532120"/>
            <a:ext cx="5175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.bzl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595360" y="5532120"/>
            <a:ext cx="3017520" cy="777240"/>
          </a:xfrm>
          <a:prstGeom prst="rect">
            <a:avLst/>
          </a:prstGeom>
          <a:solidFill>
            <a:srgbClr val="1B2559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05088" y="553212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musica.bzl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756916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756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nueve instrucciones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Escritas una tras otra, se ejecutan en orden.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1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560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&lt;- a - b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297680" y="246888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1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2560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&lt;?&gt; x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un entero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1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2560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&lt;w&gt; x y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en una línea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1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(:) {C E G}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notas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297680" y="3749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1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8056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Euclides a b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 un procedimiento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046720" y="3749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1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... else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1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5120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 &gt; 0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669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4297680" y="502920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1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80560" y="5120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&lt;&lt; x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5669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al final de una lista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8046720" y="502920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EF1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0" y="5120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8&lt; l[i]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5669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 un elemento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09544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Máximo común divisor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procedimiento con parámetros, un while y un if con else.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6675120" cy="3977640"/>
          </a:xfrm>
          <a:prstGeom prst="roundRect">
            <a:avLst>
              <a:gd name="adj" fmla="val 1609"/>
            </a:avLst>
          </a:prstGeom>
          <a:solidFill>
            <a:srgbClr val="1214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96312"/>
            <a:ext cx="6126480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Euclides a b |: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a /= b |: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 &gt; b |: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 &lt;- a - b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:| else |: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 &lt;- b - a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:|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:|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&lt;w&gt; "Su MCD es" a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:|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52360" y="233172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3A427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0" y="2468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301752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Parámetros sin tipo, separados por espacios.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= compara igualdad y /= diferencia.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 la entrada 12 y 18 escribe: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 MCD es 6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907792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RECURSIVIDAD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Torres de Hanoi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procedimientos pueden llamarse a sí mismos.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6583680" cy="3291840"/>
          </a:xfrm>
          <a:prstGeom prst="roundRect">
            <a:avLst>
              <a:gd name="adj" fmla="val 1944"/>
            </a:avLst>
          </a:prstGeom>
          <a:solidFill>
            <a:srgbClr val="1214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96312"/>
            <a:ext cx="603504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Hanoi n ori dst aux |: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&gt; 0 |: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Hanoi (n - 1) ori aux dst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&lt;w&gt; ori "-&gt;" dst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Hanoi (n - 1) aux dst ori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:|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:|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60920" y="2331720"/>
            <a:ext cx="4251960" cy="3291840"/>
          </a:xfrm>
          <a:prstGeom prst="roundRect">
            <a:avLst>
              <a:gd name="adj" fmla="val 2778"/>
            </a:avLst>
          </a:prstGeom>
          <a:solidFill>
            <a:srgbClr val="3A427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 = 3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9718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1 -&gt; 2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1 -&gt; 3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2 -&gt; 3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1 -&gt; 2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3 -&gt; 1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3 -&gt; 2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1 -&gt; 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real del intérprete: 7 movimientos (2³ − 1). Con n = 10 son 1023.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265676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42656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RECURSIVIDAD Y MÚSICA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Hanoi que suena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disco que se mueve toca su nota.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64240" cy="1965960"/>
          </a:xfrm>
          <a:prstGeom prst="roundRect">
            <a:avLst>
              <a:gd name="adj" fmla="val 3256"/>
            </a:avLst>
          </a:prstGeom>
          <a:solidFill>
            <a:srgbClr val="1214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96312"/>
            <a:ext cx="1051560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&lt;- src[#src]       ### disco de arriba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8&lt; src[#src]            ### lo quita del origen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 &lt;&lt; note             ### lo pone en el destino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(:) note                ### toca su nota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pic>
        <p:nvPicPr>
          <p:cNvPr id="9" name="Image 0" descr="/home/claude/pptx_bazilio/img/hanoi_hd_sta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663440"/>
            <a:ext cx="10607040" cy="130095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Partitura real con 5 discos: 31 notas (2⁵ − 1)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756916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756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guardan enteros o notas; los índices empiezan en 1.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EEF1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3317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l[i]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33172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el elemento 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EEF1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20040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20040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de la lista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EEF1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06908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&lt;&lt; x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406908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x al final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4206240" cy="749808"/>
          </a:xfrm>
          <a:prstGeom prst="roundRect">
            <a:avLst>
              <a:gd name="adj" fmla="val 12195"/>
            </a:avLst>
          </a:prstGeom>
          <a:solidFill>
            <a:srgbClr val="EEF1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93776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7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8&lt; l[i]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493776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 el elemento 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83480" y="2331720"/>
            <a:ext cx="6629400" cy="3429000"/>
          </a:xfrm>
          <a:prstGeom prst="roundRect">
            <a:avLst>
              <a:gd name="adj" fmla="val 1867"/>
            </a:avLst>
          </a:prstGeom>
          <a:solidFill>
            <a:srgbClr val="1214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57800" y="2496312"/>
            <a:ext cx="608076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Lista: [10 20 30] longitud: 3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Segundo elemento: 20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Después de añadir 40: [10 20 30 40]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Después de recortar el primero: [20 30 40]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no cambia al modificar la copia: [20 30 40]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listas se pasan por referencia: [20 30 40 77]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una lista copia sus valores · pasarla a un procedimiento comparte la misma lista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963924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3963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EXPRESIONES Y NOTAS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notas son números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52 teclas blancas del piano, de A0 a C8, valen de 0 a 51.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29184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42316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40480" y="2423160"/>
            <a:ext cx="173736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50208" y="242316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3291840" cy="566928"/>
          </a:xfrm>
          <a:prstGeom prst="rect">
            <a:avLst/>
          </a:prstGeom>
          <a:solidFill>
            <a:srgbClr val="DDE3F5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990088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40480" y="2990088"/>
            <a:ext cx="173736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0208" y="299008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3291840" cy="566928"/>
          </a:xfrm>
          <a:prstGeom prst="rect">
            <a:avLst/>
          </a:prstGeom>
          <a:solidFill>
            <a:srgbClr val="DDE3F5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557016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840480" y="3557016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50208" y="355701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3291840" cy="566928"/>
          </a:xfrm>
          <a:prstGeom prst="rect">
            <a:avLst/>
          </a:prstGeom>
          <a:solidFill>
            <a:srgbClr val="DDE3F5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123944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(Do central)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40480" y="4123944"/>
            <a:ext cx="173736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50208" y="412394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4690872"/>
            <a:ext cx="3291840" cy="566928"/>
          </a:xfrm>
          <a:prstGeom prst="rect">
            <a:avLst/>
          </a:prstGeom>
          <a:solidFill>
            <a:srgbClr val="DDE3F5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690872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(La)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840480" y="4690872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50208" y="469087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3291840" cy="566928"/>
          </a:xfrm>
          <a:prstGeom prst="rect">
            <a:avLst/>
          </a:prstGeom>
          <a:solidFill>
            <a:srgbClr val="DDE3F5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525780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= C + 7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840480" y="5257800"/>
            <a:ext cx="1737360" cy="566928"/>
          </a:xfrm>
          <a:prstGeom prst="rect">
            <a:avLst/>
          </a:prstGeom>
          <a:solidFill>
            <a:srgbClr val="EEF1FA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50208" y="525780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48640" y="5824728"/>
            <a:ext cx="3291840" cy="566928"/>
          </a:xfrm>
          <a:prstGeom prst="rect">
            <a:avLst/>
          </a:prstGeom>
          <a:solidFill>
            <a:srgbClr val="DDE3F5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5824728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840480" y="5824728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50208" y="582472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989320" y="2423160"/>
            <a:ext cx="5623560" cy="3968496"/>
          </a:xfrm>
          <a:prstGeom prst="roundRect">
            <a:avLst>
              <a:gd name="adj" fmla="val 2304"/>
            </a:avLst>
          </a:prstGeom>
          <a:solidFill>
            <a:srgbClr val="3A427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17920" y="2560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6217920" y="30632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como en C, de mayor a menor:</a:t>
            </a:r>
            <a:endParaRPr lang="en-US" sz="1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)   [ ]   #</a:t>
            </a:r>
            <a:endParaRPr lang="en-US" sz="1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 /   %</a:t>
            </a:r>
            <a:endParaRPr lang="en-US" sz="1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 -</a:t>
            </a:r>
            <a:endParaRPr lang="en-US" sz="1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  &gt;   &lt;=   &gt;=</a:t>
            </a:r>
            <a:endParaRPr lang="en-US" sz="1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 /=</a:t>
            </a:r>
            <a:endParaRPr lang="en-US" sz="1900" dirty="0"/>
          </a:p>
          <a:p>
            <a:pPr indent="0" marL="0">
              <a:lnSpc>
                <a:spcPct val="102000"/>
              </a:lnSpc>
              <a:buNone/>
            </a:pPr>
            <a:endParaRPr lang="en-US" sz="1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relacionales devuelven 0 o 1.</a:t>
            </a:r>
            <a:endParaRPr lang="en-US" sz="1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octava son 7 unidades.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963924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3963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EJECUCIÓN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Ámbito y errores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son locales; los errores deben lanzar una excepción.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4572000" cy="3840480"/>
          </a:xfrm>
          <a:prstGeom prst="roundRect">
            <a:avLst>
              <a:gd name="adj" fmla="val 2381"/>
            </a:avLst>
          </a:prstGeom>
          <a:solidFill>
            <a:srgbClr val="EEF1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60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 invocación tiene sus variables.</a:t>
            </a:r>
            <a:endParaRPr lang="en-US" sz="2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hay variables globales.</a:t>
            </a:r>
            <a:endParaRPr lang="en-US" sz="2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procedimientos se hablan solo por parámetros.</a:t>
            </a:r>
            <a:endParaRPr lang="en-US" sz="2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devuelven resultados.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349240" y="2423160"/>
            <a:ext cx="6263640" cy="2514600"/>
          </a:xfrm>
          <a:prstGeom prst="roundRect">
            <a:avLst>
              <a:gd name="adj" fmla="val 2545"/>
            </a:avLst>
          </a:prstGeom>
          <a:solidFill>
            <a:srgbClr val="1214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23560" y="2587752"/>
            <a:ext cx="571500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División por cero.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Foo espera 2 parámetro(s)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y recibió 1.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Índice 3 inexistente en l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(los índices van de 1 a 2).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5120640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detectar: división por cero · procedimiento no definido o repetido · número de parámetros incorrecto · parámetros formales repetidos · índice inexistente.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455164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455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invoca y qué genera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comando; las herramientas externas hacen el resto.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1214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96312"/>
            <a:ext cx="105156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bazilio.py musica.bzl          ### empieza en Main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bazilio.py musica.bzl Hanoi    ### empieza en Hanoi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3A427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069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LilyPond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754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partitura (PDF) y MIDI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297680" y="397764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3A427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4069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TiMidity++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754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 → WAV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046720" y="397764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3A427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0" y="4069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→ MP3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TiMidity++ necesita un soundfont configurado; sin él no hay WAV.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04288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las clases al proyecto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 lo que necesitas ya lo practicaste.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3832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3317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viste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931920" y="2331720"/>
            <a:ext cx="76809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41648" y="2331720"/>
            <a:ext cx="7461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aparece en Bazilio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383280" cy="548640"/>
          </a:xfrm>
          <a:prstGeom prst="rect">
            <a:avLst/>
          </a:prstGeom>
          <a:solidFill>
            <a:srgbClr val="DDE3F5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88036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 y tokens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931920" y="2880360"/>
            <a:ext cx="7680960" cy="548640"/>
          </a:xfrm>
          <a:prstGeom prst="rect">
            <a:avLst/>
          </a:prstGeom>
          <a:solidFill>
            <a:srgbClr val="EEF1FA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41648" y="2880360"/>
            <a:ext cx="7461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NOTA, PROC_ID, VAR, TEXTO y símbolos como &lt;- y |: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3383280" cy="548640"/>
          </a:xfrm>
          <a:prstGeom prst="rect">
            <a:avLst/>
          </a:prstGeom>
          <a:solidFill>
            <a:srgbClr val="DDE3F5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42900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en ANTLR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931920" y="342900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41648" y="3429000"/>
            <a:ext cx="7461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programa, procedimiento, instrucción y expr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383280" cy="548640"/>
          </a:xfrm>
          <a:prstGeom prst="rect">
            <a:avLst/>
          </a:prstGeom>
          <a:solidFill>
            <a:srgbClr val="DDE3F5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97764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y Visitor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931920" y="3977640"/>
            <a:ext cx="7680960" cy="548640"/>
          </a:xfrm>
          <a:prstGeom prst="rect">
            <a:avLst/>
          </a:prstGeom>
          <a:solidFill>
            <a:srgbClr val="EEF1FA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41648" y="3977640"/>
            <a:ext cx="7461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método visit para cada instrucción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3383280" cy="548640"/>
          </a:xfrm>
          <a:prstGeom prst="rect">
            <a:avLst/>
          </a:prstGeom>
          <a:solidFill>
            <a:srgbClr val="DDE3F5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52628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símbolos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931920" y="452628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41648" y="4526280"/>
            <a:ext cx="7461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cada invocación (pila de marcos)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3383280" cy="548640"/>
          </a:xfrm>
          <a:prstGeom prst="rect">
            <a:avLst/>
          </a:prstGeom>
          <a:solidFill>
            <a:srgbClr val="DDE3F5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507492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 while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931920" y="5074920"/>
            <a:ext cx="7680960" cy="548640"/>
          </a:xfrm>
          <a:prstGeom prst="rect">
            <a:avLst/>
          </a:prstGeom>
          <a:solidFill>
            <a:srgbClr val="EEF1FA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41648" y="5074920"/>
            <a:ext cx="7461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 e iteración, con bloques |: :|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48640" y="5623560"/>
            <a:ext cx="3383280" cy="548640"/>
          </a:xfrm>
          <a:prstGeom prst="rect">
            <a:avLst/>
          </a:prstGeom>
          <a:solidFill>
            <a:srgbClr val="DDE3F5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5623560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nuevo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931920" y="562356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41648" y="5623560"/>
            <a:ext cx="7461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recursivos, listas y salida musical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662172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3662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EJEMPLO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intérprete de referencia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comprobar tus resultados contra uno que ya funciona.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6400800" cy="2194560"/>
          </a:xfrm>
          <a:prstGeom prst="roundRect">
            <a:avLst>
              <a:gd name="adj" fmla="val 2917"/>
            </a:avLst>
          </a:prstGeom>
          <a:solidFill>
            <a:srgbClr val="1214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96312"/>
            <a:ext cx="585216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Bazilio.g4     gramática ANTLR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bazilio.py     intérprete (visitor)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pruebas.py     36 pruebas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ejemplos/      10 programas .bzl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78040" y="2331720"/>
            <a:ext cx="4434840" cy="3977640"/>
          </a:xfrm>
          <a:prstGeom prst="roundRect">
            <a:avLst>
              <a:gd name="adj" fmla="val 2299"/>
            </a:avLst>
          </a:prstGeom>
          <a:solidFill>
            <a:srgbClr val="3A427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06640" y="2468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30175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36 de 36 pruebas correctas.</a:t>
            </a:r>
            <a:endParaRPr lang="en-US" sz="2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MIDI de los 7 programas musicales tienen las notas esperadas.</a:t>
            </a:r>
            <a:endParaRPr lang="en-US" sz="2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PDF, WAV y MP3 generados de verdad.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006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los programas del enunciado y otros propios: escalas, arpegios, Fibonacci y una cascada recursiva.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Construye Bazilio por etapas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se comprueba con un programa del enunciado.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231343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860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 y gramática: reconocen los programas de ejemplo.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94360" y="299008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990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6265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Asignación, expresiones, &lt;w&gt; y &lt;?&gt;.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94360" y="3666744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666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3931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 while.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594360" y="43434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31596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y recursividad (Hanoi).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94360" y="5020056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5020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99262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y detección de errores.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594360" y="569671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5696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6692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Música: (:) → LilyPond → PDF, MIDI, WAV y MP3.</a:t>
            </a:r>
            <a:endParaRPr lang="en-US" sz="2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antes de programar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EF1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774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10312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tokens necesita el lexer de Bazilio y cuáles pueden confundirse entre sí?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EF1FA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7490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47472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representarías las variables locales de cada llamada recursiva?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EF1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5120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84632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Hanoi con 5 discos toca exactamente 31 notas?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Bazilio · ANTLR + Python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2026-10-20T04:42:35Z</dcterms:created>
  <dcterms:modified xsi:type="dcterms:W3CDTF">2026-10-20T04:42:35Z</dcterms:modified>
</cp:coreProperties>
</file>